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43e1861b15d4d33" /><Relationship Type="http://schemas.openxmlformats.org/officeDocument/2006/relationships/extended-properties" Target="/docProps/app.xml" Id="R1f42bb5438fe486a" /><Relationship Type="http://schemas.openxmlformats.org/officeDocument/2006/relationships/officeDocument" Target="/ppt/presentation.xml" Id="R7b06ff19f7d14df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00b3215d9e34abc"/>
  </p:sldMasterIdLst>
  <p:notesMasterIdLst>
    <p:notesMasterId xmlns:r="http://schemas.openxmlformats.org/officeDocument/2006/relationships" r:id="R085c06d36dfd4ba5"/>
  </p:notesMasterIdLst>
  <p:sldIdLst>
    <p:sldId xmlns:r="http://schemas.openxmlformats.org/officeDocument/2006/relationships" id="256" r:id="R15040264448047b3"/>
    <p:sldId xmlns:r="http://schemas.openxmlformats.org/officeDocument/2006/relationships" id="257" r:id="Raf6399b4864948b9"/>
    <p:sldId xmlns:r="http://schemas.openxmlformats.org/officeDocument/2006/relationships" id="258" r:id="Re427276330a04204"/>
    <p:sldId xmlns:r="http://schemas.openxmlformats.org/officeDocument/2006/relationships" id="259" r:id="Rbc282be1721e4478"/>
    <p:sldId xmlns:r="http://schemas.openxmlformats.org/officeDocument/2006/relationships" id="260" r:id="R0362062d69264da3"/>
    <p:sldId xmlns:r="http://schemas.openxmlformats.org/officeDocument/2006/relationships" id="261" r:id="Reccb6d19679c45f4"/>
    <p:sldId xmlns:r="http://schemas.openxmlformats.org/officeDocument/2006/relationships" id="262" r:id="R5e51aa1470cb4edb"/>
    <p:sldId xmlns:r="http://schemas.openxmlformats.org/officeDocument/2006/relationships" id="263" r:id="R95bc52fe1fbd4534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38a9b0d88234e4b" /><Relationship Type="http://schemas.openxmlformats.org/officeDocument/2006/relationships/slideMaster" Target="/ppt/slideMasters/slideMaster1.xml" Id="R000b3215d9e34abc" /><Relationship Type="http://schemas.openxmlformats.org/officeDocument/2006/relationships/notesMaster" Target="/ppt/notesMasters/notesMaster1.xml" Id="R085c06d36dfd4ba5" /><Relationship Type="http://schemas.openxmlformats.org/officeDocument/2006/relationships/presProps" Target="/ppt/presProps.xml" Id="Rc918c975f0914e90" /><Relationship Type="http://schemas.openxmlformats.org/officeDocument/2006/relationships/viewProps" Target="/ppt/viewProps.xml" Id="Rb5f724b818ba4d74" /><Relationship Type="http://schemas.openxmlformats.org/officeDocument/2006/relationships/tableStyles" Target="/ppt/tableStyles.xml" Id="R71188e54796c4ce3" /><Relationship Type="http://schemas.openxmlformats.org/officeDocument/2006/relationships/slide" Target="/ppt/slides/slide1.xml" Id="R15040264448047b3" /><Relationship Type="http://schemas.openxmlformats.org/officeDocument/2006/relationships/slide" Target="/ppt/slides/slide2.xml" Id="Raf6399b4864948b9" /><Relationship Type="http://schemas.openxmlformats.org/officeDocument/2006/relationships/slide" Target="/ppt/slides/slide3.xml" Id="Re427276330a04204" /><Relationship Type="http://schemas.openxmlformats.org/officeDocument/2006/relationships/slide" Target="/ppt/slides/slide4.xml" Id="Rbc282be1721e4478" /><Relationship Type="http://schemas.openxmlformats.org/officeDocument/2006/relationships/slide" Target="/ppt/slides/slide5.xml" Id="R0362062d69264da3" /><Relationship Type="http://schemas.openxmlformats.org/officeDocument/2006/relationships/slide" Target="/ppt/slides/slide6.xml" Id="Reccb6d19679c45f4" /><Relationship Type="http://schemas.openxmlformats.org/officeDocument/2006/relationships/slide" Target="/ppt/slides/slide7.xml" Id="R5e51aa1470cb4edb" /><Relationship Type="http://schemas.openxmlformats.org/officeDocument/2006/relationships/slide" Target="/ppt/slides/slide8.xml" Id="R95bc52fe1fbd453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9588a0e09014f2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ee80b2813e74489" /><Relationship Type="http://schemas.openxmlformats.org/officeDocument/2006/relationships/notesMaster" Target="/ppt/notesMasters/notesMaster1.xml" Id="R67c56f9dc90d4e3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584f7ff51854c75" /><Relationship Type="http://schemas.openxmlformats.org/officeDocument/2006/relationships/notesMaster" Target="/ppt/notesMasters/notesMaster1.xml" Id="R6df5147769a4462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329c204abd4456d" /><Relationship Type="http://schemas.openxmlformats.org/officeDocument/2006/relationships/notesMaster" Target="/ppt/notesMasters/notesMaster1.xml" Id="R4af09fc6b3614db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aeb77f35435473b" /><Relationship Type="http://schemas.openxmlformats.org/officeDocument/2006/relationships/notesMaster" Target="/ppt/notesMasters/notesMaster1.xml" Id="R2136ac0d5ce9461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35148b110e04ec4" /><Relationship Type="http://schemas.openxmlformats.org/officeDocument/2006/relationships/notesMaster" Target="/ppt/notesMasters/notesMaster1.xml" Id="R8e611b9bf3ee4b9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892dee5576644c5" /><Relationship Type="http://schemas.openxmlformats.org/officeDocument/2006/relationships/notesMaster" Target="/ppt/notesMasters/notesMaster1.xml" Id="R5e5c340b55c74d5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13d8c73dba84c6c" /><Relationship Type="http://schemas.openxmlformats.org/officeDocument/2006/relationships/notesMaster" Target="/ppt/notesMasters/notesMaster1.xml" Id="Rb4f7a5767d1a47c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f3144f27e344d03" /><Relationship Type="http://schemas.openxmlformats.org/officeDocument/2006/relationships/notesMaster" Target="/ppt/notesMasters/notesMaster1.xml" Id="R30db2b124f86478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e59cef9f3204dd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3c702a3dc0b4ce9" /><Relationship Type="http://schemas.openxmlformats.org/officeDocument/2006/relationships/slideLayout" Target="/ppt/slideLayouts/slideLayout1.xml" Id="Rb53f7b2c3f9b488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53f7b2c3f9b488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409993bcc24f90" /><Relationship Type="http://schemas.openxmlformats.org/officeDocument/2006/relationships/image" Target="/ppt/media/image.png" Id="R96560140b03e4713" /><Relationship Type="http://schemas.openxmlformats.org/officeDocument/2006/relationships/notesSlide" Target="/ppt/notesSlides/notesSlide1.xml" Id="R0771791b3ed44c8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38e93a202f47dc" /><Relationship Type="http://schemas.openxmlformats.org/officeDocument/2006/relationships/notesSlide" Target="/ppt/notesSlides/notesSlide2.xml" Id="Rf33c47d491f64b4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56d0e09c564bfc" /><Relationship Type="http://schemas.openxmlformats.org/officeDocument/2006/relationships/notesSlide" Target="/ppt/notesSlides/notesSlide3.xml" Id="R18a2bc5b87014a9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5b0cc24ec2435a" /><Relationship Type="http://schemas.openxmlformats.org/officeDocument/2006/relationships/image" Target="/ppt/media/image2.png" Id="R176c554fee724b05" /><Relationship Type="http://schemas.openxmlformats.org/officeDocument/2006/relationships/notesSlide" Target="/ppt/notesSlides/notesSlide4.xml" Id="R8be490a2ce55483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14881535314bd9" /><Relationship Type="http://schemas.openxmlformats.org/officeDocument/2006/relationships/image" Target="/ppt/media/image3.png" Id="R9d1f71ec7ffa4131" /><Relationship Type="http://schemas.openxmlformats.org/officeDocument/2006/relationships/notesSlide" Target="/ppt/notesSlides/notesSlide5.xml" Id="R3584dc080e8441b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e84041ea1443a4" /><Relationship Type="http://schemas.openxmlformats.org/officeDocument/2006/relationships/notesSlide" Target="/ppt/notesSlides/notesSlide6.xml" Id="R0e1dfe7322e04bf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58c779beab4b51" /><Relationship Type="http://schemas.openxmlformats.org/officeDocument/2006/relationships/notesSlide" Target="/ppt/notesSlides/notesSlide7.xml" Id="R6397b7d56960473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3d91ca93e64559" /><Relationship Type="http://schemas.openxmlformats.org/officeDocument/2006/relationships/notesSlide" Target="/ppt/notesSlides/notesSlide8.xml" Id="R40e92886251e43c7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33A0C27-CEF4-4F6B-904F-A8E2A2A88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D07C8E-346D-482D-82B2-3F386FEC6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55E7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355E73"/>
                </a:solidFill>
                <a:latin typeface="Aptos"/>
                <a:ea typeface="Aptos"/>
                <a:cs typeface="Aptos"/>
              </a:rPr>
              <a:t>TITLE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1A47B1-D7D7-40E8-B1E6-E718378A5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723900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211A"/>
                </a:solidFill>
                <a:latin typeface="Aptos Display"/>
                <a:ea typeface="Aptos Display"/>
                <a:cs typeface="Aptos Display"/>
              </a:defRPr>
            </a:pPr>
            <a:r>
              <a:rPr sz="3450" b="1">
                <a:solidFill>
                  <a:srgbClr val="16211A"/>
                </a:solidFill>
                <a:latin typeface="Aptos Display"/>
                <a:ea typeface="Aptos Display"/>
                <a:cs typeface="Aptos Display"/>
              </a:rPr>
              <a:t>RFP TrustRoom makes RFP response work visible, bounded, and reviewable.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E90F65-F158-450C-9C99-C3830FF87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05050"/>
            <a:ext cx="6477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61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F6B61"/>
                </a:solidFill>
                <a:latin typeface="Aptos"/>
                <a:ea typeface="Aptos"/>
                <a:cs typeface="Aptos"/>
              </a:rPr>
              <a:t>A hackathon working prototype where specialized agents coordinate through Band-style handoffs to build an evidence-backed answer pack.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5B547C-2BF1-4985-8EC3-C8385F9DD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257800"/>
            <a:ext cx="4953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8"/>
          </a:solidFill>
          <a:ln xmlns:a="http://schemas.openxmlformats.org/drawingml/2006/main" w="9525">
            <a:solidFill>
              <a:srgbClr val="D9DFD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4B2E26-01F1-42AE-8AB1-59DB66871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10200"/>
            <a:ext cx="1333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355E73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355E73"/>
                </a:solidFill>
                <a:latin typeface="Aptos"/>
                <a:ea typeface="Aptos"/>
                <a:cs typeface="Aptos"/>
              </a:rPr>
              <a:t>PROOF OBJECT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38272B-A9F1-45C3-8563-E6A14CAC6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38800"/>
            <a:ext cx="4476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F6B6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F6B61"/>
                </a:solidFill>
                <a:latin typeface="Aptos"/>
                <a:ea typeface="Aptos"/>
                <a:cs typeface="Aptos"/>
              </a:rPr>
              <a:t>Hybrid cover: real replay dashboard plus Intake -&gt; Evidence -&gt; Draft -&gt; Review -&gt; Approval -&gt; Final Pack path.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560140b03e4713"/>
          <a:stretch xmlns:a="http://schemas.openxmlformats.org/drawingml/2006/main"/>
        </p:blipFill>
        <p:spPr>
          <a:xfrm xmlns:a="http://schemas.openxmlformats.org/drawingml/2006/main">
            <a:off x="8651081" y="1104900"/>
            <a:ext cx="1414463" cy="31432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FDE335-88FB-4373-B9AA-C84615D5D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38900"/>
            <a:ext cx="3048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07C72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707C72"/>
                </a:solidFill>
                <a:latin typeface="Aptos"/>
                <a:ea typeface="Aptos"/>
                <a:cs typeface="Aptos"/>
              </a:rPr>
              <a:t>RFP TrustRoom - Band of Agents Hackathon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B9E026-1504-44B6-8622-8DE2BC7C1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38900"/>
            <a:ext cx="3238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07C72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707C72"/>
                </a:solidFill>
                <a:latin typeface="Aptos"/>
                <a:ea typeface="Aptos"/>
                <a:cs typeface="Aptos"/>
              </a:rPr>
              <a:t>1/8</a:t>
            </a:r>
          </a:p>
        </p:txBody>
      </p:sp>
    </p:spTree>
    <p:extLst>
      <p:ext uri="{BB962C8B-B14F-4D97-AF65-F5344CB8AC3E}">
        <p14:creationId xmlns:p14="http://schemas.microsoft.com/office/powerpoint/2010/main" val="14131961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E513AA6-7A90-4A46-8984-5AADE3EC0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4DB3A0-9B68-4F31-8D77-DDEA2E043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55E7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355E73"/>
                </a:solidFill>
                <a:latin typeface="Aptos"/>
                <a:ea typeface="Aptos"/>
                <a:cs typeface="Aptos"/>
              </a:rPr>
              <a:t>PAIN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57DC06-C445-493E-9085-9E1F7E517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723900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211A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6211A"/>
                </a:solidFill>
                <a:latin typeface="Aptos Display"/>
                <a:ea typeface="Aptos Display"/>
                <a:cs typeface="Aptos Display"/>
              </a:rPr>
              <a:t>RFP and security questionnaires fail at the handoff, not only at generation.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667408-4435-4D8C-929C-5303B1E97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05050"/>
            <a:ext cx="6477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61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F6B61"/>
                </a:solidFill>
                <a:latin typeface="Aptos"/>
                <a:ea typeface="Aptos"/>
                <a:cs typeface="Aptos"/>
              </a:rPr>
              <a:t>Sales, security, product, legal and SME reviewers need fresh evidence, bounded wording, and visible accountability.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047A8C-FA13-4284-A991-EF3E6D772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257800"/>
            <a:ext cx="4953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8"/>
          </a:solidFill>
          <a:ln xmlns:a="http://schemas.openxmlformats.org/drawingml/2006/main" w="9525">
            <a:solidFill>
              <a:srgbClr val="D9DFD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E3B562-E852-47CF-999C-36F95702C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10200"/>
            <a:ext cx="1333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355E73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355E73"/>
                </a:solidFill>
                <a:latin typeface="Aptos"/>
                <a:ea typeface="Aptos"/>
                <a:cs typeface="Aptos"/>
              </a:rPr>
              <a:t>PROOF OBJECT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539E6D-B9F0-4774-BA98-7C4159882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38800"/>
            <a:ext cx="4476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F6B6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F6B61"/>
                </a:solidFill>
                <a:latin typeface="Aptos"/>
                <a:ea typeface="Aptos"/>
                <a:cs typeface="Aptos"/>
              </a:rPr>
              <a:t>Before-state workflow: scattered requests, stale evidence and risky commitments.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469632-AF04-4AC0-97A0-7F38E7707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1104900"/>
            <a:ext cx="45243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8"/>
          </a:solidFill>
          <a:ln xmlns:a="http://schemas.openxmlformats.org/drawingml/2006/main" w="9525">
            <a:solidFill>
              <a:srgbClr val="D9DFD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6D2E5F-1F62-4CBC-A71B-CADCE2487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1219200"/>
            <a:ext cx="425767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6211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6211A"/>
                </a:solidFill>
                <a:latin typeface="Aptos"/>
                <a:ea typeface="Aptos"/>
                <a:cs typeface="Aptos"/>
              </a:rPr>
              <a:t>Sales asks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1292BC-8944-47E4-B156-ED5C3F983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1466850"/>
            <a:ext cx="42576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B6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F6B61"/>
                </a:solidFill>
                <a:latin typeface="Aptos"/>
                <a:ea typeface="Aptos"/>
                <a:cs typeface="Aptos"/>
              </a:rPr>
              <a:t>request enters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700410-E47E-408C-AE34-349DD510D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1924050"/>
            <a:ext cx="45243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8"/>
          </a:solidFill>
          <a:ln xmlns:a="http://schemas.openxmlformats.org/drawingml/2006/main" w="9525">
            <a:solidFill>
              <a:srgbClr val="D9DFD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606777-A9ED-4C2A-AC2B-94AEE052D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2038350"/>
            <a:ext cx="425767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6211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6211A"/>
                </a:solidFill>
                <a:latin typeface="Aptos"/>
                <a:ea typeface="Aptos"/>
                <a:cs typeface="Aptos"/>
              </a:rPr>
              <a:t>Security finds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8E4ACC6-2BFD-4A1E-8DF3-F184FDA34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2286000"/>
            <a:ext cx="42576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B6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F6B61"/>
                </a:solidFill>
                <a:latin typeface="Aptos"/>
                <a:ea typeface="Aptos"/>
                <a:cs typeface="Aptos"/>
              </a:rPr>
              <a:t>freshness checked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8746D5-6D82-4EDC-AC52-226326137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2743200"/>
            <a:ext cx="45243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8"/>
          </a:solidFill>
          <a:ln xmlns:a="http://schemas.openxmlformats.org/drawingml/2006/main" w="9525">
            <a:solidFill>
              <a:srgbClr val="D9DFD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A9A6FF-51D5-4E33-BE8B-A9AF64D9E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2857500"/>
            <a:ext cx="425767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6211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6211A"/>
                </a:solidFill>
                <a:latin typeface="Aptos"/>
                <a:ea typeface="Aptos"/>
                <a:cs typeface="Aptos"/>
              </a:rPr>
              <a:t>Legal bounds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EDA50B8-9C38-4A11-B393-F06E99CE0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3105150"/>
            <a:ext cx="42576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B6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F6B61"/>
                </a:solidFill>
                <a:latin typeface="Aptos"/>
                <a:ea typeface="Aptos"/>
                <a:cs typeface="Aptos"/>
              </a:rPr>
              <a:t>wording limited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DBCD1D5-5129-4F14-A568-A2C6569EB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3562350"/>
            <a:ext cx="45243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8"/>
          </a:solidFill>
          <a:ln xmlns:a="http://schemas.openxmlformats.org/drawingml/2006/main" w="9525">
            <a:solidFill>
              <a:srgbClr val="D9DFD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6014A80-90F5-4EA5-92FD-315843F56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3676650"/>
            <a:ext cx="425767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6211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6211A"/>
                </a:solidFill>
                <a:latin typeface="Aptos"/>
                <a:ea typeface="Aptos"/>
                <a:cs typeface="Aptos"/>
              </a:rPr>
              <a:t>SME approves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CD050E9-7CA4-43CB-BC81-18D51D2BB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3924300"/>
            <a:ext cx="42576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B6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F6B61"/>
                </a:solidFill>
                <a:latin typeface="Aptos"/>
                <a:ea typeface="Aptos"/>
                <a:cs typeface="Aptos"/>
              </a:rPr>
              <a:t>scope recorded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18780F5-F65C-4F9E-8523-7A4EAF83D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4381500"/>
            <a:ext cx="45243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8"/>
          </a:solidFill>
          <a:ln xmlns:a="http://schemas.openxmlformats.org/drawingml/2006/main" w="9525">
            <a:solidFill>
              <a:srgbClr val="D9DFD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FD965B8-CB91-44B1-9939-56C6BE026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4495800"/>
            <a:ext cx="425767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6211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6211A"/>
                </a:solidFill>
                <a:latin typeface="Aptos"/>
                <a:ea typeface="Aptos"/>
                <a:cs typeface="Aptos"/>
              </a:rPr>
              <a:t>Owner packs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36EE9EB-1FCB-4BFF-8CBB-4979F5DCC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4743450"/>
            <a:ext cx="42576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B6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F6B61"/>
                </a:solidFill>
                <a:latin typeface="Aptos"/>
                <a:ea typeface="Aptos"/>
                <a:cs typeface="Aptos"/>
              </a:rPr>
              <a:t>unsafe item retained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2764CAE-12BE-4A6C-AFA8-2A41D707B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38900"/>
            <a:ext cx="3048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07C72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707C72"/>
                </a:solidFill>
                <a:latin typeface="Aptos"/>
                <a:ea typeface="Aptos"/>
                <a:cs typeface="Aptos"/>
              </a:rPr>
              <a:t>RFP TrustRoom - Band of Agents Hackathon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39C9A3F-B645-42C6-A581-9286E702E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38900"/>
            <a:ext cx="3238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07C72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707C72"/>
                </a:solidFill>
                <a:latin typeface="Aptos"/>
                <a:ea typeface="Aptos"/>
                <a:cs typeface="Aptos"/>
              </a:rPr>
              <a:t>2/8</a:t>
            </a:r>
          </a:p>
        </p:txBody>
      </p:sp>
    </p:spTree>
    <p:extLst>
      <p:ext uri="{BB962C8B-B14F-4D97-AF65-F5344CB8AC3E}">
        <p14:creationId xmlns:p14="http://schemas.microsoft.com/office/powerpoint/2010/main" val="432107775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772149F-A31A-487A-A209-B10D1D20A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BC0B07-D8B9-40D1-B7CE-47FC35257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55E7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355E73"/>
                </a:solidFill>
                <a:latin typeface="Aptos"/>
                <a:ea typeface="Aptos"/>
                <a:cs typeface="Aptos"/>
              </a:rPr>
              <a:t>BAND LAYER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CBC3BD-AF1A-462F-99A4-CBB93C630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723900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211A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6211A"/>
                </a:solidFill>
                <a:latin typeface="Aptos Display"/>
                <a:ea typeface="Aptos Display"/>
                <a:cs typeface="Aptos Display"/>
              </a:rPr>
              <a:t>Band is the coordination layer, not a final notification channel.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27EA4B-D934-4DE7-9967-F9211F228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05050"/>
            <a:ext cx="6477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61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F6B61"/>
                </a:solidFill>
                <a:latin typeface="Aptos"/>
                <a:ea typeface="Aptos"/>
                <a:cs typeface="Aptos"/>
              </a:rPr>
              <a:t>The demo path shows sender -&gt; receiver transitions, shared object refs, task states and a human approval gate.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C07117-9247-44B2-8277-8AE3DA371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257800"/>
            <a:ext cx="4953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8"/>
          </a:solidFill>
          <a:ln xmlns:a="http://schemas.openxmlformats.org/drawingml/2006/main" w="9525">
            <a:solidFill>
              <a:srgbClr val="D9DFD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2E8B90-CDCA-43E4-AE82-AEFFB1713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10200"/>
            <a:ext cx="1333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355E73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355E73"/>
                </a:solidFill>
                <a:latin typeface="Aptos"/>
                <a:ea typeface="Aptos"/>
                <a:cs typeface="Aptos"/>
              </a:rPr>
              <a:t>PROOF OBJECT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F94B45-4ABB-4D7D-B81C-A04968B5D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38800"/>
            <a:ext cx="4476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F6B6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F6B61"/>
                </a:solidFill>
                <a:latin typeface="Aptos"/>
                <a:ea typeface="Aptos"/>
                <a:cs typeface="Aptos"/>
              </a:rPr>
              <a:t>Agent chain: orchestrator -&gt; decomposer -&gt; retriever -&gt; drafter -&gt; reviewer -&gt; human approver.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D237B6-5DFE-4399-9068-0A8746A50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1104900"/>
            <a:ext cx="2095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8"/>
          </a:solidFill>
          <a:ln xmlns:a="http://schemas.openxmlformats.org/drawingml/2006/main" w="9525">
            <a:solidFill>
              <a:srgbClr val="D9DFD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03A137-C441-448E-A8BA-61D6E71C9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1219200"/>
            <a:ext cx="1828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6211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6211A"/>
                </a:solidFill>
                <a:latin typeface="Aptos"/>
                <a:ea typeface="Aptos"/>
                <a:cs typeface="Aptos"/>
              </a:rPr>
              <a:t>orchestrator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D2C1DD-F7C3-4FF2-8C25-109F0BBEA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1466850"/>
            <a:ext cx="1828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B6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F6B61"/>
                </a:solidFill>
                <a:latin typeface="Aptos"/>
                <a:ea typeface="Aptos"/>
                <a:cs typeface="Aptos"/>
              </a:rPr>
              <a:t>assigns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9DBC9C-ADF0-4ECD-82F5-E398C1627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1104900"/>
            <a:ext cx="2095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8"/>
          </a:solidFill>
          <a:ln xmlns:a="http://schemas.openxmlformats.org/drawingml/2006/main" w="9525">
            <a:solidFill>
              <a:srgbClr val="D9DFD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CB62DF-0295-4A10-AE7C-945B47242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1219200"/>
            <a:ext cx="1828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6211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6211A"/>
                </a:solidFill>
                <a:latin typeface="Aptos"/>
                <a:ea typeface="Aptos"/>
                <a:cs typeface="Aptos"/>
              </a:rPr>
              <a:t>decomposer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B54B50-0B21-4DA4-8CE3-B1B167C18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1466850"/>
            <a:ext cx="1828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B6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F6B61"/>
                </a:solidFill>
                <a:latin typeface="Aptos"/>
                <a:ea typeface="Aptos"/>
                <a:cs typeface="Aptos"/>
              </a:rPr>
              <a:t>triages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DA6D50C-5D0D-426B-822B-C5CC5E13A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1924050"/>
            <a:ext cx="2095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8"/>
          </a:solidFill>
          <a:ln xmlns:a="http://schemas.openxmlformats.org/drawingml/2006/main" w="9525">
            <a:solidFill>
              <a:srgbClr val="D9DFD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3295630-79B1-4FDF-A510-95304635C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2038350"/>
            <a:ext cx="1828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6211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6211A"/>
                </a:solidFill>
                <a:latin typeface="Aptos"/>
                <a:ea typeface="Aptos"/>
                <a:cs typeface="Aptos"/>
              </a:rPr>
              <a:t>retriever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74DB31D-1F16-446E-B564-21F002B3B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2286000"/>
            <a:ext cx="1828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B6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F6B61"/>
                </a:solidFill>
                <a:latin typeface="Aptos"/>
                <a:ea typeface="Aptos"/>
                <a:cs typeface="Aptos"/>
              </a:rPr>
              <a:t>retrieves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E455B2D-8607-4ACE-903E-D18C4966E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1924050"/>
            <a:ext cx="2095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8"/>
          </a:solidFill>
          <a:ln xmlns:a="http://schemas.openxmlformats.org/drawingml/2006/main" w="9525">
            <a:solidFill>
              <a:srgbClr val="D9DFD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B773C4F-02BE-4614-A2B4-F1575AAEB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038350"/>
            <a:ext cx="1828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6211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6211A"/>
                </a:solidFill>
                <a:latin typeface="Aptos"/>
                <a:ea typeface="Aptos"/>
                <a:cs typeface="Aptos"/>
              </a:rPr>
              <a:t>drafter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E186369-327E-4D4F-BFC7-E345A3B6B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286000"/>
            <a:ext cx="1828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B6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F6B61"/>
                </a:solidFill>
                <a:latin typeface="Aptos"/>
                <a:ea typeface="Aptos"/>
                <a:cs typeface="Aptos"/>
              </a:rPr>
              <a:t>drafts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7FA1677-B99F-4DCD-917B-3BD580713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2743200"/>
            <a:ext cx="2095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8"/>
          </a:solidFill>
          <a:ln xmlns:a="http://schemas.openxmlformats.org/drawingml/2006/main" w="9525">
            <a:solidFill>
              <a:srgbClr val="D9DFD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9DD89B2-14DF-471A-9013-D6D9228A6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2857500"/>
            <a:ext cx="1828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6211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6211A"/>
                </a:solidFill>
                <a:latin typeface="Aptos"/>
                <a:ea typeface="Aptos"/>
                <a:cs typeface="Aptos"/>
              </a:rPr>
              <a:t>reviewer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F0F8A69-94FF-452D-9E53-18AD31F6B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3105150"/>
            <a:ext cx="1828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B6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F6B61"/>
                </a:solidFill>
                <a:latin typeface="Aptos"/>
                <a:ea typeface="Aptos"/>
                <a:cs typeface="Aptos"/>
              </a:rPr>
              <a:t>challenges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1C2B746-3D1E-4227-B277-0FFBD7978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743200"/>
            <a:ext cx="2095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8"/>
          </a:solidFill>
          <a:ln xmlns:a="http://schemas.openxmlformats.org/drawingml/2006/main" w="9525">
            <a:solidFill>
              <a:srgbClr val="D9DFD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94DDA7A-8DCC-4788-8472-686333058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857500"/>
            <a:ext cx="1828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6211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6211A"/>
                </a:solidFill>
                <a:latin typeface="Aptos"/>
                <a:ea typeface="Aptos"/>
                <a:cs typeface="Aptos"/>
              </a:rPr>
              <a:t>human approver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793F00B-CB32-4120-96BE-B92569D53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105150"/>
            <a:ext cx="1828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B6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F6B61"/>
                </a:solidFill>
                <a:latin typeface="Aptos"/>
                <a:ea typeface="Aptos"/>
                <a:cs typeface="Aptos"/>
              </a:rPr>
              <a:t>approves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4CE477E-3D62-4EAA-A891-B591E7E33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38900"/>
            <a:ext cx="3048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07C72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707C72"/>
                </a:solidFill>
                <a:latin typeface="Aptos"/>
                <a:ea typeface="Aptos"/>
                <a:cs typeface="Aptos"/>
              </a:rPr>
              <a:t>RFP TrustRoom - Band of Agents Hackathon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968EF34-65CA-4AB2-A755-DCA4D7536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38900"/>
            <a:ext cx="3238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07C72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707C72"/>
                </a:solidFill>
                <a:latin typeface="Aptos"/>
                <a:ea typeface="Aptos"/>
                <a:cs typeface="Aptos"/>
              </a:rPr>
              <a:t>3/8</a:t>
            </a:r>
          </a:p>
        </p:txBody>
      </p:sp>
    </p:spTree>
    <p:extLst>
      <p:ext uri="{BB962C8B-B14F-4D97-AF65-F5344CB8AC3E}">
        <p14:creationId xmlns:p14="http://schemas.microsoft.com/office/powerpoint/2010/main" val="149707841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BB98267-0A11-4874-A248-AA1FC2996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8525FF-DB39-43B5-9638-FEDD7EA92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55E7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355E73"/>
                </a:solidFill>
                <a:latin typeface="Aptos"/>
                <a:ea typeface="Aptos"/>
                <a:cs typeface="Aptos"/>
              </a:rPr>
              <a:t>RUN TRACE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BE2AAE-6E1A-4076-A9FF-6D5FFFE86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723900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211A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6211A"/>
                </a:solidFill>
                <a:latin typeface="Aptos Display"/>
                <a:ea typeface="Aptos Display"/>
                <a:cs typeface="Aptos Display"/>
              </a:rPr>
              <a:t>Judges can verify the workflow from the first screen.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639F0E-7FAE-4286-B1B1-77DAB8E70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05050"/>
            <a:ext cx="6477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61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F6B61"/>
                </a:solidFill>
                <a:latin typeface="Aptos"/>
                <a:ea typeface="Aptos"/>
                <a:cs typeface="Aptos"/>
              </a:rPr>
              <a:t>The route starts with Executive Decision, proof strip, Business Milestones and Agent Handoff Chain before raw logs.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DA6AD8-6F2D-42D3-9E7B-E54661CC1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257800"/>
            <a:ext cx="4953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8"/>
          </a:solidFill>
          <a:ln xmlns:a="http://schemas.openxmlformats.org/drawingml/2006/main" w="9525">
            <a:solidFill>
              <a:srgbClr val="D9DFD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7C9841-9939-40C7-AA18-41B175CE8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10200"/>
            <a:ext cx="1333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355E73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355E73"/>
                </a:solidFill>
                <a:latin typeface="Aptos"/>
                <a:ea typeface="Aptos"/>
                <a:cs typeface="Aptos"/>
              </a:rPr>
              <a:t>PROOF OBJECT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31969B-F131-4E72-A909-26A1DB152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38800"/>
            <a:ext cx="4476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F6B6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F6B61"/>
                </a:solidFill>
                <a:latin typeface="Aptos"/>
                <a:ea typeface="Aptos"/>
                <a:cs typeface="Aptos"/>
              </a:rPr>
              <a:t>Screenshot crop: Run Trace, milestones, handoff chain and replay boundary.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6c554fee724b05"/>
          <a:stretch xmlns:a="http://schemas.openxmlformats.org/drawingml/2006/main"/>
        </p:blipFill>
        <p:spPr>
          <a:xfrm xmlns:a="http://schemas.openxmlformats.org/drawingml/2006/main">
            <a:off x="7096125" y="1527188"/>
            <a:ext cx="4524375" cy="2298674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26356C-9BC0-4FA9-9F67-3EF678D72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38900"/>
            <a:ext cx="3048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07C72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707C72"/>
                </a:solidFill>
                <a:latin typeface="Aptos"/>
                <a:ea typeface="Aptos"/>
                <a:cs typeface="Aptos"/>
              </a:rPr>
              <a:t>RFP TrustRoom - Band of Agents Hackathon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BF4B7A-149C-495C-A3BF-3850FFFFD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38900"/>
            <a:ext cx="3238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07C72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707C72"/>
                </a:solidFill>
                <a:latin typeface="Aptos"/>
                <a:ea typeface="Aptos"/>
                <a:cs typeface="Aptos"/>
              </a:rPr>
              <a:t>4/8</a:t>
            </a:r>
          </a:p>
        </p:txBody>
      </p:sp>
    </p:spTree>
    <p:extLst>
      <p:ext uri="{BB962C8B-B14F-4D97-AF65-F5344CB8AC3E}">
        <p14:creationId xmlns:p14="http://schemas.microsoft.com/office/powerpoint/2010/main" val="129029890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39F577D-0A19-424E-BE3D-BFAE06C27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68DBE5-004C-4869-9504-00BB313FE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55E7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355E73"/>
                </a:solidFill>
                <a:latin typeface="Aptos"/>
                <a:ea typeface="Aptos"/>
                <a:cs typeface="Aptos"/>
              </a:rPr>
              <a:t>ITEM TRACES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E1564F-C3B9-4AD2-8668-E55577837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723900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211A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6211A"/>
                </a:solidFill>
                <a:latin typeface="Aptos Display"/>
                <a:ea typeface="Aptos Display"/>
                <a:cs typeface="Aptos Display"/>
              </a:rPr>
              <a:t>The system treats happy path, review loop, and blocker path differently.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0A3290-986E-4424-BF86-3D6159E60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05050"/>
            <a:ext cx="6477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61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F6B61"/>
                </a:solidFill>
                <a:latin typeface="Aptos"/>
                <a:ea typeface="Aptos"/>
                <a:cs typeface="Aptos"/>
              </a:rPr>
              <a:t>Q-002 is approved with scoped SME context; Q-004 is rewritten after review and legal approval; Q-006 is excluded.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72F0C7-D9A8-4557-ADBC-EFDB3A6AB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257800"/>
            <a:ext cx="4953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8"/>
          </a:solidFill>
          <a:ln xmlns:a="http://schemas.openxmlformats.org/drawingml/2006/main" w="9525">
            <a:solidFill>
              <a:srgbClr val="D9DFD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7EC495-8B06-46FC-884E-A03449486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10200"/>
            <a:ext cx="1333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355E73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355E73"/>
                </a:solidFill>
                <a:latin typeface="Aptos"/>
                <a:ea typeface="Aptos"/>
                <a:cs typeface="Aptos"/>
              </a:rPr>
              <a:t>PROOF OBJECT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566842-4CD3-4856-A0D3-1BD5A6EC8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38800"/>
            <a:ext cx="4476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F6B6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F6B61"/>
                </a:solidFill>
                <a:latin typeface="Aptos"/>
                <a:ea typeface="Aptos"/>
                <a:cs typeface="Aptos"/>
              </a:rPr>
              <a:t>Representative Item Traces for Q-002, Q-004 and Q-006.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1f71ec7ffa4131"/>
          <a:stretch xmlns:a="http://schemas.openxmlformats.org/drawingml/2006/main"/>
        </p:blipFill>
        <p:spPr>
          <a:xfrm xmlns:a="http://schemas.openxmlformats.org/drawingml/2006/main">
            <a:off x="7096125" y="1654892"/>
            <a:ext cx="4524375" cy="2043266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900E07-AAA8-4B63-AD2C-49F3B6AB6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38900"/>
            <a:ext cx="3048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07C72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707C72"/>
                </a:solidFill>
                <a:latin typeface="Aptos"/>
                <a:ea typeface="Aptos"/>
                <a:cs typeface="Aptos"/>
              </a:rPr>
              <a:t>RFP TrustRoom - Band of Agents Hackathon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5291AB-B4AD-40AF-86B8-D247B66C3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38900"/>
            <a:ext cx="3238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07C72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707C72"/>
                </a:solidFill>
                <a:latin typeface="Aptos"/>
                <a:ea typeface="Aptos"/>
                <a:cs typeface="Aptos"/>
              </a:rPr>
              <a:t>5/8</a:t>
            </a:r>
          </a:p>
        </p:txBody>
      </p:sp>
    </p:spTree>
    <p:extLst>
      <p:ext uri="{BB962C8B-B14F-4D97-AF65-F5344CB8AC3E}">
        <p14:creationId xmlns:p14="http://schemas.microsoft.com/office/powerpoint/2010/main" val="1004385627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C1B1665-904B-4C52-841A-C1DB58E28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3D4BAA-CDE6-467C-9FE6-70F7AC85B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55E7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355E73"/>
                </a:solidFill>
                <a:latin typeface="Aptos"/>
                <a:ea typeface="Aptos"/>
                <a:cs typeface="Aptos"/>
              </a:rPr>
              <a:t>RISK CONTROL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5E2F33-3AD0-409B-AEEF-8BD3AC369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723900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211A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6211A"/>
                </a:solidFill>
                <a:latin typeface="Aptos Display"/>
                <a:ea typeface="Aptos Display"/>
                <a:cs typeface="Aptos Display"/>
              </a:rPr>
              <a:t>High-risk commitments stay out of the pack without valid scoped approval.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53A28E-3D34-4F4C-B73F-D182E681C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05050"/>
            <a:ext cx="6477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61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F6B61"/>
                </a:solidFill>
                <a:latin typeface="Aptos"/>
                <a:ea typeface="Aptos"/>
                <a:cs typeface="Aptos"/>
              </a:rPr>
              <a:t>Q-006 has stale/conflicting evidence, no valid approval, final-pack exclusion and a policy-owner follow-up.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86235D-8D38-4748-92D4-22CD1AE55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257800"/>
            <a:ext cx="4953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8"/>
          </a:solidFill>
          <a:ln xmlns:a="http://schemas.openxmlformats.org/drawingml/2006/main" w="9525">
            <a:solidFill>
              <a:srgbClr val="D9DFD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C487EB-A30E-4B76-8EC4-36B184A04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10200"/>
            <a:ext cx="1333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355E73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355E73"/>
                </a:solidFill>
                <a:latin typeface="Aptos"/>
                <a:ea typeface="Aptos"/>
                <a:cs typeface="Aptos"/>
              </a:rPr>
              <a:t>PROOF OBJECT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05B589-607A-4CBD-8B92-FE3B12C84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38800"/>
            <a:ext cx="4476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F6B6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F6B61"/>
                </a:solidFill>
                <a:latin typeface="Aptos"/>
                <a:ea typeface="Aptos"/>
                <a:cs typeface="Aptos"/>
              </a:rPr>
              <a:t>Blocked Impact Path plus approval validity language.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2265CB0-26ED-4173-B77C-97B4EC654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1104900"/>
            <a:ext cx="45243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8"/>
          </a:solidFill>
          <a:ln xmlns:a="http://schemas.openxmlformats.org/drawingml/2006/main" w="9525">
            <a:solidFill>
              <a:srgbClr val="D9DFD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52DFD2-A049-4C2D-9C7C-9D08D16AA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1219200"/>
            <a:ext cx="425767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6211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6211A"/>
                </a:solidFill>
                <a:latin typeface="Aptos"/>
                <a:ea typeface="Aptos"/>
                <a:cs typeface="Aptos"/>
              </a:rPr>
              <a:t>stale/conflicting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2711CA-CCEB-45F3-9681-0D666F007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1466850"/>
            <a:ext cx="42576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B6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F6B61"/>
                </a:solidFill>
                <a:latin typeface="Aptos"/>
                <a:ea typeface="Aptos"/>
                <a:cs typeface="Aptos"/>
              </a:rPr>
              <a:t>evidence risk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59B612-A219-4039-A0D0-066E58CD3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1924050"/>
            <a:ext cx="45243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8"/>
          </a:solidFill>
          <a:ln xmlns:a="http://schemas.openxmlformats.org/drawingml/2006/main" w="9525">
            <a:solidFill>
              <a:srgbClr val="D9DFD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7CD249-57E1-49C7-BFCC-612EE76D0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2038350"/>
            <a:ext cx="425767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6211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6211A"/>
                </a:solidFill>
                <a:latin typeface="Aptos"/>
                <a:ea typeface="Aptos"/>
                <a:cs typeface="Aptos"/>
              </a:rPr>
              <a:t>needs approval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EAFDE9-EC78-404B-BB27-43B8687B1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2286000"/>
            <a:ext cx="42576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B6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F6B61"/>
                </a:solidFill>
                <a:latin typeface="Aptos"/>
                <a:ea typeface="Aptos"/>
                <a:cs typeface="Aptos"/>
              </a:rPr>
              <a:t>review gate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F0F06F-CF8E-4357-833E-426EDF0A0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2743200"/>
            <a:ext cx="45243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8"/>
          </a:solidFill>
          <a:ln xmlns:a="http://schemas.openxmlformats.org/drawingml/2006/main" w="9525">
            <a:solidFill>
              <a:srgbClr val="D9DFD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195CFEC-B20E-4D63-A948-B6517A432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2857500"/>
            <a:ext cx="425767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B23A36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B23A36"/>
                </a:solidFill>
                <a:latin typeface="Aptos"/>
                <a:ea typeface="Aptos"/>
                <a:cs typeface="Aptos"/>
              </a:rPr>
              <a:t>no valid approval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F965B4D-F6BF-43EC-8E98-4163AE7E4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3105150"/>
            <a:ext cx="42576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B6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F6B61"/>
                </a:solidFill>
                <a:latin typeface="Aptos"/>
                <a:ea typeface="Aptos"/>
                <a:cs typeface="Aptos"/>
              </a:rPr>
              <a:t>missing scope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E0B282C-E3D4-4066-A43C-A5E4D32F3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3562350"/>
            <a:ext cx="45243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8"/>
          </a:solidFill>
          <a:ln xmlns:a="http://schemas.openxmlformats.org/drawingml/2006/main" w="9525">
            <a:solidFill>
              <a:srgbClr val="D9DFD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4C5F058-3854-42B0-BAE2-B749BB6C7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3676650"/>
            <a:ext cx="425767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B23A36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B23A36"/>
                </a:solidFill>
                <a:latin typeface="Aptos"/>
                <a:ea typeface="Aptos"/>
                <a:cs typeface="Aptos"/>
              </a:rPr>
              <a:t>excluded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542C142-1D47-4B4E-AB1A-C33CD3638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3924300"/>
            <a:ext cx="42576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B6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F6B61"/>
                </a:solidFill>
                <a:latin typeface="Aptos"/>
                <a:ea typeface="Aptos"/>
                <a:cs typeface="Aptos"/>
              </a:rPr>
              <a:t>fail closed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0BF982F-0305-4A0E-94F2-A0670F407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4381500"/>
            <a:ext cx="45243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8"/>
          </a:solidFill>
          <a:ln xmlns:a="http://schemas.openxmlformats.org/drawingml/2006/main" w="9525">
            <a:solidFill>
              <a:srgbClr val="D9DFD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803C949-3A2B-40A5-BE44-18FCCF2AA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4495800"/>
            <a:ext cx="425767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B23A36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B23A36"/>
                </a:solidFill>
                <a:latin typeface="Aptos"/>
                <a:ea typeface="Aptos"/>
                <a:cs typeface="Aptos"/>
              </a:rPr>
              <a:t>policy next action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4F0AB17-75BB-42A3-8182-1C8A3B4D6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4743450"/>
            <a:ext cx="42576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B6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F6B61"/>
                </a:solidFill>
                <a:latin typeface="Aptos"/>
                <a:ea typeface="Aptos"/>
                <a:cs typeface="Aptos"/>
              </a:rPr>
              <a:t>next action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861B946-064D-4862-AAD6-F78BA312E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38900"/>
            <a:ext cx="3048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07C72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707C72"/>
                </a:solidFill>
                <a:latin typeface="Aptos"/>
                <a:ea typeface="Aptos"/>
                <a:cs typeface="Aptos"/>
              </a:rPr>
              <a:t>RFP TrustRoom - Band of Agents Hackathon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95BAB0A-4BF6-4BB2-B587-B089FE1F4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38900"/>
            <a:ext cx="3238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07C72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707C72"/>
                </a:solidFill>
                <a:latin typeface="Aptos"/>
                <a:ea typeface="Aptos"/>
                <a:cs typeface="Aptos"/>
              </a:rPr>
              <a:t>6/8</a:t>
            </a:r>
          </a:p>
        </p:txBody>
      </p:sp>
    </p:spTree>
    <p:extLst>
      <p:ext uri="{BB962C8B-B14F-4D97-AF65-F5344CB8AC3E}">
        <p14:creationId xmlns:p14="http://schemas.microsoft.com/office/powerpoint/2010/main" val="142078087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A535203-7113-4843-A68A-A38C6E895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5F00EC-FBFE-49F9-AF30-30B071C40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55E7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355E73"/>
                </a:solidFill>
                <a:latin typeface="Aptos"/>
                <a:ea typeface="Aptos"/>
                <a:cs typeface="Aptos"/>
              </a:rPr>
              <a:t>FINAL PACK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E2EF71-8509-4852-8333-6CF9BFF36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723900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211A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6211A"/>
                </a:solidFill>
                <a:latin typeface="Aptos Display"/>
                <a:ea typeface="Aptos Display"/>
                <a:cs typeface="Aptos Display"/>
              </a:rPr>
              <a:t>The output is a traceable answer pack, not just generated prose.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166039-F1C1-4C49-86D0-3E3ACB8D5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05050"/>
            <a:ext cx="6477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61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F6B61"/>
                </a:solidFill>
                <a:latin typeface="Aptos"/>
                <a:ea typeface="Aptos"/>
                <a:cs typeface="Aptos"/>
              </a:rPr>
              <a:t>Included answers carry evidence, review and approval context; excluded answers keep next actions visible.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446992-97A2-441A-8B16-45266DBEC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257800"/>
            <a:ext cx="4953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8"/>
          </a:solidFill>
          <a:ln xmlns:a="http://schemas.openxmlformats.org/drawingml/2006/main" w="9525">
            <a:solidFill>
              <a:srgbClr val="D9DFD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742F00-2F54-41A3-A21B-3B3505580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10200"/>
            <a:ext cx="1333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355E73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355E73"/>
                </a:solidFill>
                <a:latin typeface="Aptos"/>
                <a:ea typeface="Aptos"/>
                <a:cs typeface="Aptos"/>
              </a:rPr>
              <a:t>PROOF OBJECT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22DA76-9A5F-40B5-9344-686E9B6C9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38800"/>
            <a:ext cx="4476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F6B6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F6B61"/>
                </a:solidFill>
                <a:latin typeface="Aptos"/>
                <a:ea typeface="Aptos"/>
                <a:cs typeface="Aptos"/>
              </a:rPr>
              <a:t>Final Pack, evidence index, event refs and replay/live boundary.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63AD08-8F6D-4556-9E57-DD52C476D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1104900"/>
            <a:ext cx="2095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8"/>
          </a:solidFill>
          <a:ln xmlns:a="http://schemas.openxmlformats.org/drawingml/2006/main" w="9525">
            <a:solidFill>
              <a:srgbClr val="D9DFD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F2B506-1860-4F78-8354-F8C459DF8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1219200"/>
            <a:ext cx="1828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6211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6211A"/>
                </a:solidFill>
                <a:latin typeface="Aptos"/>
                <a:ea typeface="Aptos"/>
                <a:cs typeface="Aptos"/>
              </a:rPr>
              <a:t>7/8 included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514D7B-3B8E-48EB-B728-6947875B1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1466850"/>
            <a:ext cx="1828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B6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F6B61"/>
                </a:solidFill>
                <a:latin typeface="Aptos"/>
                <a:ea typeface="Aptos"/>
                <a:cs typeface="Aptos"/>
              </a:rPr>
              <a:t>final pack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3A0AE0-5CA2-414D-A42A-CF8D57288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1104900"/>
            <a:ext cx="2095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8"/>
          </a:solidFill>
          <a:ln xmlns:a="http://schemas.openxmlformats.org/drawingml/2006/main" w="9525">
            <a:solidFill>
              <a:srgbClr val="D9DFD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458620D-AAB5-4532-AE21-882E37B1F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1219200"/>
            <a:ext cx="1828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6211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6211A"/>
                </a:solidFill>
                <a:latin typeface="Aptos"/>
                <a:ea typeface="Aptos"/>
                <a:cs typeface="Aptos"/>
              </a:rPr>
              <a:t>1 blocked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A264B90-58C8-4773-B409-BE86D7761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1466850"/>
            <a:ext cx="1828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B6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F6B61"/>
                </a:solidFill>
                <a:latin typeface="Aptos"/>
                <a:ea typeface="Aptos"/>
                <a:cs typeface="Aptos"/>
              </a:rPr>
              <a:t>Q-006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3AA1EF-CB88-4606-9D08-78CB4B071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2095500"/>
            <a:ext cx="2095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8"/>
          </a:solidFill>
          <a:ln xmlns:a="http://schemas.openxmlformats.org/drawingml/2006/main" w="9525">
            <a:solidFill>
              <a:srgbClr val="D9DFD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B2BD48A-9D8F-48B5-86C3-F2AA369DF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2209800"/>
            <a:ext cx="1828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6211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6211A"/>
                </a:solidFill>
                <a:latin typeface="Aptos"/>
                <a:ea typeface="Aptos"/>
                <a:cs typeface="Aptos"/>
              </a:rPr>
              <a:t>REPLAY mode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E5C2B7B-88D7-4469-9206-D135D21C0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2457450"/>
            <a:ext cx="1828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B6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F6B61"/>
                </a:solidFill>
                <a:latin typeface="Aptos"/>
                <a:ea typeface="Aptos"/>
                <a:cs typeface="Aptos"/>
              </a:rPr>
              <a:t>fallback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BF19166-7E04-4735-A59B-315C3F4EF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095500"/>
            <a:ext cx="2095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8"/>
          </a:solidFill>
          <a:ln xmlns:a="http://schemas.openxmlformats.org/drawingml/2006/main" w="9525">
            <a:solidFill>
              <a:srgbClr val="D9DFD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E91101-37E9-4614-9ACE-592DF9FE3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209800"/>
            <a:ext cx="1828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6211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6211A"/>
                </a:solidFill>
                <a:latin typeface="Aptos"/>
                <a:ea typeface="Aptos"/>
                <a:cs typeface="Aptos"/>
              </a:rPr>
              <a:t>Evidence context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4098635-EFB9-4744-9D90-B44498041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457450"/>
            <a:ext cx="1828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B6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F6B61"/>
                </a:solidFill>
                <a:latin typeface="Aptos"/>
                <a:ea typeface="Aptos"/>
                <a:cs typeface="Aptos"/>
              </a:rPr>
              <a:t>source basis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2C1D1A1-96D0-4324-B13B-B64BDAD61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3086100"/>
            <a:ext cx="2095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8"/>
          </a:solidFill>
          <a:ln xmlns:a="http://schemas.openxmlformats.org/drawingml/2006/main" w="9525">
            <a:solidFill>
              <a:srgbClr val="D9DFD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0EF3400-9F8B-4052-8DB5-50FCB4428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3200400"/>
            <a:ext cx="1828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6211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6211A"/>
                </a:solidFill>
                <a:latin typeface="Aptos"/>
                <a:ea typeface="Aptos"/>
                <a:cs typeface="Aptos"/>
              </a:rPr>
              <a:t>Approval scope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ECB8AC9-6FFD-454E-9433-04C41C1BF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3448050"/>
            <a:ext cx="1828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B6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F6B61"/>
                </a:solidFill>
                <a:latin typeface="Aptos"/>
                <a:ea typeface="Aptos"/>
                <a:cs typeface="Aptos"/>
              </a:rPr>
              <a:t>validity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C263F65-4CE3-44DC-A5F2-23676C0B5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086100"/>
            <a:ext cx="2095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8"/>
          </a:solidFill>
          <a:ln xmlns:a="http://schemas.openxmlformats.org/drawingml/2006/main" w="9525">
            <a:solidFill>
              <a:srgbClr val="D9DFD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911530B-B730-4379-B904-E230BAE8D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200400"/>
            <a:ext cx="1828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6211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6211A"/>
                </a:solidFill>
                <a:latin typeface="Aptos"/>
                <a:ea typeface="Aptos"/>
                <a:cs typeface="Aptos"/>
              </a:rPr>
              <a:t>Event refs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0C18868-0A84-4ADC-9694-BA833ECDE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448050"/>
            <a:ext cx="1828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B6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F6B61"/>
                </a:solidFill>
                <a:latin typeface="Aptos"/>
                <a:ea typeface="Aptos"/>
                <a:cs typeface="Aptos"/>
              </a:rPr>
              <a:t>trace chips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B8C6EEA-060B-4926-847E-1F0C4819E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38900"/>
            <a:ext cx="3048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07C72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707C72"/>
                </a:solidFill>
                <a:latin typeface="Aptos"/>
                <a:ea typeface="Aptos"/>
                <a:cs typeface="Aptos"/>
              </a:rPr>
              <a:t>RFP TrustRoom - Band of Agents Hackathon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A599D50-E11B-497A-9C36-170F8EAB9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38900"/>
            <a:ext cx="3238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07C72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707C72"/>
                </a:solidFill>
                <a:latin typeface="Aptos"/>
                <a:ea typeface="Aptos"/>
                <a:cs typeface="Aptos"/>
              </a:rPr>
              <a:t>7/8</a:t>
            </a:r>
          </a:p>
        </p:txBody>
      </p:sp>
    </p:spTree>
    <p:extLst>
      <p:ext uri="{BB962C8B-B14F-4D97-AF65-F5344CB8AC3E}">
        <p14:creationId xmlns:p14="http://schemas.microsoft.com/office/powerpoint/2010/main" val="1390913658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E138756-073D-4A49-86F9-B4F974B11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6AD9EA-8B9D-4C33-8863-696497E59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55E7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355E73"/>
                </a:solidFill>
                <a:latin typeface="Aptos"/>
                <a:ea typeface="Aptos"/>
                <a:cs typeface="Aptos"/>
              </a:rPr>
              <a:t>ARCHITECTURE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5B95EF-132B-4B72-A1B9-2D8FED75B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657225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6211A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16211A"/>
                </a:solidFill>
                <a:latin typeface="Aptos Display"/>
                <a:ea typeface="Aptos Display"/>
                <a:cs typeface="Aptos Display"/>
              </a:rPr>
              <a:t>A lightweight prototype keeps the demo stable without broadening live claims.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668FAD-48E2-4960-AF22-056AB296F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05050"/>
            <a:ext cx="6477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61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F6B61"/>
                </a:solidFill>
                <a:latin typeface="Aptos"/>
                <a:ea typeface="Aptos"/>
                <a:cs typeface="Aptos"/>
              </a:rPr>
              <a:t>FastAPI dashboard, public-safe mock/replay, Band REST boundary verified separately, autonomous replies remain a separate gate.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CF7AA6-C36C-4200-9608-A055F6C9A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257800"/>
            <a:ext cx="4953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8"/>
          </a:solidFill>
          <a:ln xmlns:a="http://schemas.openxmlformats.org/drawingml/2006/main" w="9525">
            <a:solidFill>
              <a:srgbClr val="D9DFD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A090F6-5ADA-4763-812F-EC73A1F55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10200"/>
            <a:ext cx="1333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355E73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355E73"/>
                </a:solidFill>
                <a:latin typeface="Aptos"/>
                <a:ea typeface="Aptos"/>
                <a:cs typeface="Aptos"/>
              </a:rPr>
              <a:t>PROOF OBJECT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AFB433-073F-4234-BFD2-BC6939392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38800"/>
            <a:ext cx="4476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F6B6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F6B61"/>
                </a:solidFill>
                <a:latin typeface="Aptos"/>
                <a:ea typeface="Aptos"/>
                <a:cs typeface="Aptos"/>
              </a:rPr>
              <a:t>Architecture map and no-overclaim footer.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BE51DD-B1C3-4FF2-8CAE-298D5020D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524000"/>
            <a:ext cx="3429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8"/>
          </a:solidFill>
          <a:ln xmlns:a="http://schemas.openxmlformats.org/drawingml/2006/main" w="9525">
            <a:solidFill>
              <a:srgbClr val="D9DFD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D0C05D-493B-467F-8B88-554047BC4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725" y="1638300"/>
            <a:ext cx="31623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6211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6211A"/>
                </a:solidFill>
                <a:latin typeface="Aptos"/>
                <a:ea typeface="Aptos"/>
                <a:cs typeface="Aptos"/>
              </a:rPr>
              <a:t>FastAPI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2BBCD6-974D-4A29-B885-9EBAA8EDD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725" y="1885950"/>
            <a:ext cx="3162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B6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F6B61"/>
                </a:solidFill>
                <a:latin typeface="Aptos"/>
                <a:ea typeface="Aptos"/>
                <a:cs typeface="Aptos"/>
              </a:rPr>
              <a:t>dashboard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7990C6-ABAB-4F5F-AA47-EA6BC1510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343150"/>
            <a:ext cx="3429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8"/>
          </a:solidFill>
          <a:ln xmlns:a="http://schemas.openxmlformats.org/drawingml/2006/main" w="9525">
            <a:solidFill>
              <a:srgbClr val="D9DFD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4471AF-17A6-4A1F-96EC-32DB6D7FC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725" y="2457450"/>
            <a:ext cx="31623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6211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6211A"/>
                </a:solidFill>
                <a:latin typeface="Aptos"/>
                <a:ea typeface="Aptos"/>
                <a:cs typeface="Aptos"/>
              </a:rPr>
              <a:t>mock/replay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65DB173-6979-4997-A397-5ABFB9F8D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725" y="2705100"/>
            <a:ext cx="3162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B6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F6B61"/>
                </a:solidFill>
                <a:latin typeface="Aptos"/>
                <a:ea typeface="Aptos"/>
                <a:cs typeface="Aptos"/>
              </a:rPr>
              <a:t>stable route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CA8027-22AB-4BD2-A112-5FBD92D00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162300"/>
            <a:ext cx="3429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8"/>
          </a:solidFill>
          <a:ln xmlns:a="http://schemas.openxmlformats.org/drawingml/2006/main" w="9525">
            <a:solidFill>
              <a:srgbClr val="D9DFD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E92A6EE-6481-42F3-BA83-3C94183C7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725" y="3276600"/>
            <a:ext cx="31623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6211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6211A"/>
                </a:solidFill>
                <a:latin typeface="Aptos"/>
                <a:ea typeface="Aptos"/>
                <a:cs typeface="Aptos"/>
              </a:rPr>
              <a:t>Band REST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E82C500-FE7D-41DA-ABBB-FE25FCC9A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725" y="3524250"/>
            <a:ext cx="3162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B6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F6B61"/>
                </a:solidFill>
                <a:latin typeface="Aptos"/>
                <a:ea typeface="Aptos"/>
                <a:cs typeface="Aptos"/>
              </a:rPr>
              <a:t>verified boundary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2D895BA-0A7D-49B3-BE7C-BD008917F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981450"/>
            <a:ext cx="3429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8"/>
          </a:solidFill>
          <a:ln xmlns:a="http://schemas.openxmlformats.org/drawingml/2006/main" w="9525">
            <a:solidFill>
              <a:srgbClr val="D9DFD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85EDBC4-C9DB-47F9-A15F-259309E11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725" y="4095750"/>
            <a:ext cx="31623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6211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6211A"/>
                </a:solidFill>
                <a:latin typeface="Aptos"/>
                <a:ea typeface="Aptos"/>
                <a:cs typeface="Aptos"/>
              </a:rPr>
              <a:t>autonomous gate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394B54B-FC13-4DC2-A313-F5AF6A2B6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725" y="4343400"/>
            <a:ext cx="3162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B6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F6B61"/>
                </a:solidFill>
                <a:latin typeface="Aptos"/>
                <a:ea typeface="Aptos"/>
                <a:cs typeface="Aptos"/>
              </a:rPr>
              <a:t>separate gate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2F25F5F-5205-4437-BE4A-6EF62314D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38900"/>
            <a:ext cx="3048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07C72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707C72"/>
                </a:solidFill>
                <a:latin typeface="Aptos"/>
                <a:ea typeface="Aptos"/>
                <a:cs typeface="Aptos"/>
              </a:rPr>
              <a:t>RFP TrustRoom - Band of Agents Hackathon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7706AB5-15CC-4911-98E6-089CAB5F6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38900"/>
            <a:ext cx="3238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07C72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707C72"/>
                </a:solidFill>
                <a:latin typeface="Aptos"/>
                <a:ea typeface="Aptos"/>
                <a:cs typeface="Aptos"/>
              </a:rPr>
              <a:t>8/8</a:t>
            </a:r>
          </a:p>
        </p:txBody>
      </p:sp>
    </p:spTree>
    <p:extLst>
      <p:ext uri="{BB962C8B-B14F-4D97-AF65-F5344CB8AC3E}">
        <p14:creationId xmlns:p14="http://schemas.microsoft.com/office/powerpoint/2010/main" val="84080906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2026-06-13T16:15:47.4040000Z</dcterms:created>
  <dcterms:modified xsi:type="dcterms:W3CDTF">2026-06-13T16:15:47.4040000Z</dcterms:modified>
</coreProperties>
</file>